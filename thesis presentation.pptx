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C007FA-2BB6-4805-AFE2-E2D7CC48B0D3}">
  <a:tblStyle styleId="{40C007FA-2BB6-4805-AFE2-E2D7CC48B0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55990b2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55990b2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5e1b5d78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5e1b5d78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aaa9d34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aaa9d34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aa9d34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aa9d34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55990b2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55990b2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a55990b2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a55990b2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788a5c28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788a5c2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aaa9d349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aaa9d349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a55990b2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a55990b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a55990b2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a55990b2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a55990b2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a55990b2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a5e1b5d7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a5e1b5d7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a5e1b5d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a5e1b5d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a5e1b5d7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a5e1b5d7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a5e1b5d7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a5e1b5d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a5e1b5d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a5e1b5d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a5e1b5d7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a5e1b5d7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a5e1b5d7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a5e1b5d7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a5e1b5d7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a5e1b5d7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a5e1b5d7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a5e1b5d7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a5e1b5d7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a5e1b5d7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a5e1b5d7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a5e1b5d7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aaa9d34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aaa9d34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aaa9d34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aaa9d34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aaa9d349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aaa9d349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sbert.net/docs/package_reference/sentence_transformer/losses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93700"/>
            <a:ext cx="8520600" cy="2303400"/>
          </a:xfrm>
          <a:prstGeom prst="rect">
            <a:avLst/>
          </a:prstGeom>
          <a:solidFill>
            <a:schemeClr val="accent5"/>
          </a:soli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When Fine-Tuning Fails: Lessons from MS MARCO Passage Ranking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8200" y="3288350"/>
            <a:ext cx="8520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Presented by : Manu Pande (MML2023005)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M.Tech. IT (MLIS)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June 25, 2025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Supervisor: Dr. Muneendra Ojha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Statement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marR="125057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Key Question</a:t>
            </a:r>
            <a:r>
              <a:rPr lang="en" sz="1650">
                <a:solidFill>
                  <a:schemeClr val="dk1"/>
                </a:solidFill>
              </a:rPr>
              <a:t> : Why does fine-tuning degrade performance on MS MARCO </a:t>
            </a:r>
            <a:r>
              <a:rPr b="1" lang="en" sz="1650">
                <a:solidFill>
                  <a:schemeClr val="dk1"/>
                </a:solidFill>
              </a:rPr>
              <a:t>[7]</a:t>
            </a:r>
            <a:r>
              <a:rPr lang="en" sz="1650">
                <a:solidFill>
                  <a:schemeClr val="dk1"/>
                </a:solidFill>
              </a:rPr>
              <a:t> passage ranking task?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125057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Counterintuitive finding</a:t>
            </a:r>
            <a:r>
              <a:rPr lang="en" sz="1650">
                <a:solidFill>
                  <a:schemeClr val="dk1"/>
                </a:solidFill>
              </a:rPr>
              <a:t> : All fine-tuning approaches underperformed the base model  (sentence-transformers/all-MiniLM-L6-v2 </a:t>
            </a:r>
            <a:r>
              <a:rPr b="1" lang="en" sz="1650">
                <a:solidFill>
                  <a:schemeClr val="dk1"/>
                </a:solidFill>
              </a:rPr>
              <a:t>[8]</a:t>
            </a:r>
            <a:r>
              <a:rPr lang="en" sz="1650">
                <a:solidFill>
                  <a:schemeClr val="dk1"/>
                </a:solidFill>
              </a:rPr>
              <a:t>) 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marR="125057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Challenge</a:t>
            </a:r>
            <a:r>
              <a:rPr lang="en" sz="1650">
                <a:solidFill>
                  <a:schemeClr val="dk1"/>
                </a:solidFill>
              </a:rPr>
              <a:t>: Base model is a model pre-trained on 1 billion </a:t>
            </a:r>
            <a:r>
              <a:rPr lang="en" sz="1650">
                <a:solidFill>
                  <a:schemeClr val="dk1"/>
                </a:solidFill>
              </a:rPr>
              <a:t>sentences</a:t>
            </a:r>
            <a:r>
              <a:rPr lang="en" sz="1650">
                <a:solidFill>
                  <a:schemeClr val="dk1"/>
                </a:solidFill>
              </a:rPr>
              <a:t> including 9.1 million MS Marco examples. This makes it a highly optimised model for generating sentence embeddings.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Literature Review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71538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Dual-Encoder architecture for passage ranking</a:t>
            </a:r>
            <a:endParaRPr b="1"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Separate encoders are used for queries and passages with efficient similarity computation </a:t>
            </a:r>
            <a:r>
              <a:rPr b="1" lang="en" sz="1650">
                <a:solidFill>
                  <a:schemeClr val="dk1"/>
                </a:solidFill>
              </a:rPr>
              <a:t>[1]</a:t>
            </a:r>
            <a:r>
              <a:rPr lang="en" sz="1650">
                <a:solidFill>
                  <a:schemeClr val="dk1"/>
                </a:solidFill>
              </a:rPr>
              <a:t>. They are efficient as we can calculate and store the embeddings which makes inference fast.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Cross-Encoder architecture for passage ranking</a:t>
            </a:r>
            <a:endParaRPr b="1"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Joint processing of query-passage pairs for nuanced relevance modeling is</a:t>
            </a:r>
            <a:r>
              <a:rPr lang="en" sz="1650">
                <a:solidFill>
                  <a:schemeClr val="dk1"/>
                </a:solidFill>
              </a:rPr>
              <a:t> </a:t>
            </a:r>
            <a:r>
              <a:rPr lang="en" sz="1650">
                <a:solidFill>
                  <a:schemeClr val="dk1"/>
                </a:solidFill>
              </a:rPr>
              <a:t>done </a:t>
            </a:r>
            <a:r>
              <a:rPr b="1" lang="en" sz="1650">
                <a:solidFill>
                  <a:schemeClr val="dk1"/>
                </a:solidFill>
              </a:rPr>
              <a:t>[2]</a:t>
            </a:r>
            <a:r>
              <a:rPr lang="en" sz="1650">
                <a:solidFill>
                  <a:schemeClr val="dk1"/>
                </a:solidFill>
              </a:rPr>
              <a:t>. This model is less time efficient as it processes each query and document pair at once.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Literature Review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LoRA (Low-Rank Adaptation)</a:t>
            </a:r>
            <a:endParaRPr b="1" sz="165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Reduces trainable parameters while maintaining performance </a:t>
            </a:r>
            <a:r>
              <a:rPr b="1" lang="en" sz="1650">
                <a:solidFill>
                  <a:schemeClr val="dk1"/>
                </a:solidFill>
              </a:rPr>
              <a:t>[3]</a:t>
            </a:r>
            <a:endParaRPr b="1" sz="165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Targets query/value projection matrices (~3.9% of total parameters)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Embedding Space Analysis</a:t>
            </a:r>
            <a:endParaRPr b="1" sz="165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It is critical for retrieval performance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UMAP: Preserves local and global structure for embedding analysis </a:t>
            </a:r>
            <a:r>
              <a:rPr b="1" lang="en" sz="1650">
                <a:solidFill>
                  <a:schemeClr val="dk1"/>
                </a:solidFill>
              </a:rPr>
              <a:t>[4]</a:t>
            </a:r>
            <a:endParaRPr b="1" sz="165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Reveals degradation patterns beyond traditional metrics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Essential for understanding fine-tuning effects on pre-optimized models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Literature Review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775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Research Gaps</a:t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	</a:t>
            </a:r>
            <a:r>
              <a:rPr lang="en" sz="1650">
                <a:solidFill>
                  <a:schemeClr val="dk1"/>
                </a:solidFill>
              </a:rPr>
              <a:t>Parameter-efficient methods need evaluation on saturated benchmarks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Traditional fine-tuning assumptions may not hold for heavily pre-trained models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Need for hybrid approaches combining statistical (BM25) and neural methods </a:t>
            </a:r>
            <a:r>
              <a:rPr b="1" lang="en" sz="1650">
                <a:solidFill>
                  <a:schemeClr val="dk1"/>
                </a:solidFill>
              </a:rPr>
              <a:t>[5]</a:t>
            </a:r>
            <a:endParaRPr b="1"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Research Context</a:t>
            </a:r>
            <a:endParaRPr b="1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78261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Dataset</a:t>
            </a:r>
            <a:r>
              <a:rPr lang="en">
                <a:solidFill>
                  <a:schemeClr val="dk1"/>
                </a:solidFill>
              </a:rPr>
              <a:t>: MS MARCO - 8.8M passages, challenging retrieval benchmark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Base Model</a:t>
            </a:r>
            <a:r>
              <a:rPr lang="en">
                <a:solidFill>
                  <a:schemeClr val="dk1"/>
                </a:solidFill>
              </a:rPr>
              <a:t>: sentence-transformers/all-MiniLM-L6-v2 </a:t>
            </a:r>
            <a:r>
              <a:rPr b="1" lang="en" sz="1650">
                <a:solidFill>
                  <a:schemeClr val="dk1"/>
                </a:solidFill>
              </a:rPr>
              <a:t>[8]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Extensive Pre</a:t>
            </a:r>
            <a:r>
              <a:rPr lang="en">
                <a:solidFill>
                  <a:schemeClr val="dk1"/>
                </a:solidFill>
              </a:rPr>
              <a:t>-</a:t>
            </a:r>
            <a:r>
              <a:rPr b="1" lang="en">
                <a:solidFill>
                  <a:schemeClr val="dk1"/>
                </a:solidFill>
              </a:rPr>
              <a:t>training</a:t>
            </a:r>
            <a:r>
              <a:rPr lang="en">
                <a:solidFill>
                  <a:schemeClr val="dk1"/>
                </a:solidFill>
              </a:rPr>
              <a:t>: 1 billion sentence pairs including 9.1M MS MARCO samples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Research Gap</a:t>
            </a:r>
            <a:r>
              <a:rPr lang="en">
                <a:solidFill>
                  <a:schemeClr val="dk1"/>
                </a:solidFill>
              </a:rPr>
              <a:t>: What happens when you fine-tune already optimized models?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336300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Experimental Design</a:t>
            </a:r>
            <a:endParaRPr b="1"/>
          </a:p>
        </p:txBody>
      </p:sp>
      <p:pic>
        <p:nvPicPr>
          <p:cNvPr id="91" name="Google Shape;91;p19" title="Untitled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225" y="1038975"/>
            <a:ext cx="2799529" cy="3929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Experimental Design</a:t>
            </a:r>
            <a:endParaRPr b="1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5 model variants</a:t>
            </a:r>
            <a:r>
              <a:rPr lang="en" sz="1650">
                <a:solidFill>
                  <a:schemeClr val="dk1"/>
                </a:solidFill>
              </a:rPr>
              <a:t> :</a:t>
            </a:r>
            <a:endParaRPr sz="1650">
              <a:solidFill>
                <a:schemeClr val="dk1"/>
              </a:solidFill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Base SBERT (baseline)</a:t>
            </a:r>
            <a:endParaRPr sz="1650">
              <a:solidFill>
                <a:schemeClr val="dk1"/>
              </a:solidFill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Full Fine-tuning (Random negatives / Hard negatives)</a:t>
            </a:r>
            <a:endParaRPr sz="1650">
              <a:solidFill>
                <a:schemeClr val="dk1"/>
              </a:solidFill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○"/>
            </a:pPr>
            <a:r>
              <a:rPr lang="en" sz="1650">
                <a:solidFill>
                  <a:schemeClr val="dk1"/>
                </a:solidFill>
              </a:rPr>
              <a:t>LoRA Fine-tuning (Random negatives / Hard negatives)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Training Data</a:t>
            </a:r>
            <a:r>
              <a:rPr lang="en" sz="1650">
                <a:solidFill>
                  <a:schemeClr val="dk1"/>
                </a:solidFill>
              </a:rPr>
              <a:t>: </a:t>
            </a:r>
            <a:endParaRPr sz="165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1M random </a:t>
            </a:r>
            <a:r>
              <a:rPr lang="en" sz="1650">
                <a:solidFill>
                  <a:schemeClr val="dk1"/>
                </a:solidFill>
              </a:rPr>
              <a:t>samples </a:t>
            </a:r>
            <a:r>
              <a:rPr lang="en" sz="1650">
                <a:solidFill>
                  <a:schemeClr val="dk1"/>
                </a:solidFill>
              </a:rPr>
              <a:t>and 503k hard negatives vs base 1B samples in base </a:t>
            </a:r>
            <a:r>
              <a:rPr lang="en" sz="1650">
                <a:solidFill>
                  <a:schemeClr val="dk1"/>
                </a:solidFill>
              </a:rPr>
              <a:t>model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For building the hard negatives dataset we used our base model to retrieve top 200 passages for each training query. Randomly sampled a passage from range 51 to 100, excluding known positives to get our hard negative. This hard negative is semantically similar but not relevant.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Hardware</a:t>
            </a:r>
            <a:r>
              <a:rPr lang="en" sz="1650">
                <a:solidFill>
                  <a:schemeClr val="dk1"/>
                </a:solidFill>
              </a:rPr>
              <a:t>: NVIDIA A100 80GB GPU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Experimental Design</a:t>
            </a:r>
            <a:endParaRPr b="1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7389000" cy="3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Loss function</a:t>
            </a:r>
            <a:r>
              <a:rPr lang="en" sz="1650">
                <a:solidFill>
                  <a:schemeClr val="dk1"/>
                </a:solidFill>
              </a:rPr>
              <a:t>: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Triplet loss was used as the loss function, it is defined as : </a:t>
            </a:r>
            <a:br>
              <a:rPr lang="en" sz="1650">
                <a:solidFill>
                  <a:schemeClr val="dk1"/>
                </a:solidFill>
              </a:rPr>
            </a:br>
            <a:r>
              <a:rPr lang="en" sz="1650">
                <a:solidFill>
                  <a:schemeClr val="dk1"/>
                </a:solidFill>
              </a:rPr>
              <a:t>L</a:t>
            </a:r>
            <a:r>
              <a:rPr b="1" baseline="-25000" lang="en" sz="2350">
                <a:solidFill>
                  <a:schemeClr val="dk1"/>
                </a:solidFill>
              </a:rPr>
              <a:t>triplet</a:t>
            </a:r>
            <a:r>
              <a:rPr lang="en" sz="1650">
                <a:solidFill>
                  <a:schemeClr val="dk1"/>
                </a:solidFill>
              </a:rPr>
              <a:t> = max(0, sim(q, p</a:t>
            </a:r>
            <a:r>
              <a:rPr b="1" baseline="30000" lang="en" sz="1650">
                <a:solidFill>
                  <a:schemeClr val="dk1"/>
                </a:solidFill>
              </a:rPr>
              <a:t>–</a:t>
            </a:r>
            <a:r>
              <a:rPr lang="en" sz="1650">
                <a:solidFill>
                  <a:schemeClr val="dk1"/>
                </a:solidFill>
              </a:rPr>
              <a:t>) − sim(q, p</a:t>
            </a:r>
            <a:r>
              <a:rPr b="1" baseline="30000" lang="en" sz="1650">
                <a:solidFill>
                  <a:schemeClr val="dk1"/>
                </a:solidFill>
              </a:rPr>
              <a:t>+</a:t>
            </a:r>
            <a:r>
              <a:rPr lang="en" sz="1650">
                <a:solidFill>
                  <a:schemeClr val="dk1"/>
                </a:solidFill>
              </a:rPr>
              <a:t>) + α)</a:t>
            </a:r>
            <a:endParaRPr sz="16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Where sim(q, p) is cosine similarity between queries and passage embeddings and α is the margin parameter. </a:t>
            </a:r>
            <a:r>
              <a:rPr b="1" lang="en" sz="1650">
                <a:solidFill>
                  <a:schemeClr val="dk1"/>
                </a:solidFill>
              </a:rPr>
              <a:t>[6]</a:t>
            </a:r>
            <a:endParaRPr b="1"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Results - Performance Degradation</a:t>
            </a:r>
            <a:endParaRPr b="1"/>
          </a:p>
        </p:txBody>
      </p:sp>
      <p:graphicFrame>
        <p:nvGraphicFramePr>
          <p:cNvPr id="109" name="Google Shape;109;p2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{40C007FA-2BB6-4805-AFE2-E2D7CC48B0D3}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MRR@10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MRR@100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% change in MRR@10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Base SBERT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0.3026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0.3144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Full FT (Random)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0.2619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0.2723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-13.5%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Full FT (Hard)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0.2536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0.2632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-16.2%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LoRA FT (Random)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0.2557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0.2664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-15.5%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LoRA FT (Hard)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0.2050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0.2149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-32.3%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10" name="Google Shape;110;p22"/>
          <p:cNvCxnSpPr/>
          <p:nvPr/>
        </p:nvCxnSpPr>
        <p:spPr>
          <a:xfrm>
            <a:off x="6483175" y="2255525"/>
            <a:ext cx="377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Results - Performance Degradation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780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Worst Performer</a:t>
            </a:r>
            <a:r>
              <a:rPr lang="en">
                <a:solidFill>
                  <a:schemeClr val="dk1"/>
                </a:solidFill>
              </a:rPr>
              <a:t>: LoRA FT (Hard) with -32.3% degradation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Best Fine-tuned</a:t>
            </a:r>
            <a:r>
              <a:rPr lang="en">
                <a:solidFill>
                  <a:schemeClr val="dk1"/>
                </a:solidFill>
              </a:rPr>
              <a:t>: Full FT (Random), still -13.5% worse than base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Universal Pattern</a:t>
            </a:r>
            <a:r>
              <a:rPr lang="en">
                <a:solidFill>
                  <a:schemeClr val="dk1"/>
                </a:solidFill>
              </a:rPr>
              <a:t>: No fine-tuning approach succeeded to overcome the benchmark set by the base model.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Embedding Space Analysis</a:t>
            </a:r>
            <a:endParaRPr b="1"/>
          </a:p>
        </p:txBody>
      </p:sp>
      <p:pic>
        <p:nvPicPr>
          <p:cNvPr id="122" name="Google Shape;122;p24" title="umap_visualization_sentence_transformers_all_MiniLM_L6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200" y="1137350"/>
            <a:ext cx="4325791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5667625" y="1951950"/>
            <a:ext cx="29796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Base SBERT: Well-defined semantic clustering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with natural boundaries and balanced distribution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Embedding Space Analysis</a:t>
            </a:r>
            <a:endParaRPr b="1"/>
          </a:p>
        </p:txBody>
      </p:sp>
      <p:sp>
        <p:nvSpPr>
          <p:cNvPr id="129" name="Google Shape;129;p25"/>
          <p:cNvSpPr txBox="1"/>
          <p:nvPr/>
        </p:nvSpPr>
        <p:spPr>
          <a:xfrm>
            <a:off x="5667625" y="1951950"/>
            <a:ext cx="29796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Full FT (Random): Distinct island formations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with preserved but altered clustering structure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0" name="Google Shape;130;p25" title="umap_visualization_manupande21_all_MiniLM_L6_v2_finetuned_triple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25" y="1170125"/>
            <a:ext cx="436439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Embedding Space Analysis</a:t>
            </a:r>
            <a:endParaRPr b="1"/>
          </a:p>
        </p:txBody>
      </p:sp>
      <p:sp>
        <p:nvSpPr>
          <p:cNvPr id="136" name="Google Shape;136;p26"/>
          <p:cNvSpPr txBox="1"/>
          <p:nvPr/>
        </p:nvSpPr>
        <p:spPr>
          <a:xfrm>
            <a:off x="5667625" y="1951950"/>
            <a:ext cx="29796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Full FT (Hard): Increased uniformity showing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moderate embedding space flattening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7" name="Google Shape;137;p26" title="umap_visualization_manupande21_all_MiniLM_L6_v2_finetuned_triples_hard_negati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225" y="1170125"/>
            <a:ext cx="432579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Embedding Space Analysis</a:t>
            </a:r>
            <a:endParaRPr b="1"/>
          </a:p>
        </p:txBody>
      </p:sp>
      <p:sp>
        <p:nvSpPr>
          <p:cNvPr id="143" name="Google Shape;143;p27"/>
          <p:cNvSpPr txBox="1"/>
          <p:nvPr/>
        </p:nvSpPr>
        <p:spPr>
          <a:xfrm>
            <a:off x="5667625" y="1951950"/>
            <a:ext cx="29796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LoRA FT (Random): Reduced semantic differentiation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with compressed clustering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4" name="Google Shape;144;p27" title="umap_visualization__root_lora_model_1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25" y="1170125"/>
            <a:ext cx="437659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Embedding Space Analysis</a:t>
            </a:r>
            <a:endParaRPr b="1"/>
          </a:p>
        </p:txBody>
      </p:sp>
      <p:sp>
        <p:nvSpPr>
          <p:cNvPr id="150" name="Google Shape;150;p28"/>
          <p:cNvSpPr txBox="1"/>
          <p:nvPr/>
        </p:nvSpPr>
        <p:spPr>
          <a:xfrm>
            <a:off x="5667625" y="1951950"/>
            <a:ext cx="29796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LoRA FT (Hard): Maximum uniformity demonstrating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catastrophic embedding space collapse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1" name="Google Shape;151;p28" title="umap_visualization__root_lora_model_h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500" y="1170125"/>
            <a:ext cx="436439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Embedding Space Analysis</a:t>
            </a:r>
            <a:endParaRPr b="1"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78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Key Insight</a:t>
            </a:r>
            <a:r>
              <a:rPr lang="en">
                <a:solidFill>
                  <a:schemeClr val="dk1"/>
                </a:solidFill>
              </a:rPr>
              <a:t>: Progressive degradation from structured clustering to uniformity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Visual Correlation</a:t>
            </a:r>
            <a:r>
              <a:rPr lang="en">
                <a:solidFill>
                  <a:schemeClr val="dk1"/>
                </a:solidFill>
              </a:rPr>
              <a:t>: Embedding space quality seems to directly correlate with the </a:t>
            </a:r>
            <a:r>
              <a:rPr lang="en">
                <a:solidFill>
                  <a:schemeClr val="dk1"/>
                </a:solidFill>
              </a:rPr>
              <a:t>observed</a:t>
            </a:r>
            <a:r>
              <a:rPr lang="en">
                <a:solidFill>
                  <a:schemeClr val="dk1"/>
                </a:solidFill>
              </a:rPr>
              <a:t> performance degradation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Mechanism</a:t>
            </a:r>
            <a:r>
              <a:rPr lang="en">
                <a:solidFill>
                  <a:schemeClr val="dk1"/>
                </a:solidFill>
              </a:rPr>
              <a:t>: Fine-tuning disrupts billion-scale learned representations thus adding more noise rather than information signal to the embedding space.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Hard Negatives Paradox</a:t>
            </a:r>
            <a:endParaRPr b="1"/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152475"/>
            <a:ext cx="789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Counterintuitive Finding</a:t>
            </a:r>
            <a:r>
              <a:rPr lang="en">
                <a:solidFill>
                  <a:schemeClr val="dk1"/>
                </a:solidFill>
              </a:rPr>
              <a:t>: Hard negatives perform worse than random negatives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Explanation</a:t>
            </a:r>
            <a:r>
              <a:rPr lang="en">
                <a:solidFill>
                  <a:schemeClr val="dk1"/>
                </a:solidFill>
              </a:rPr>
              <a:t>: Base model already optimized for semantic similarity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Implication</a:t>
            </a:r>
            <a:r>
              <a:rPr lang="en">
                <a:solidFill>
                  <a:schemeClr val="dk1"/>
                </a:solidFill>
              </a:rPr>
              <a:t>: Conventional negative sampling strategies fail on saturated models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LoRA Vulnerability</a:t>
            </a:r>
            <a:r>
              <a:rPr lang="en">
                <a:solidFill>
                  <a:schemeClr val="dk1"/>
                </a:solidFill>
              </a:rPr>
              <a:t>: Parameter efficient models show catastrophic sensitivity to hard negatives.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Computational Efficiency Surprise</a:t>
            </a:r>
            <a:endParaRPr b="1"/>
          </a:p>
        </p:txBody>
      </p:sp>
      <p:graphicFrame>
        <p:nvGraphicFramePr>
          <p:cNvPr id="169" name="Google Shape;169;p31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{40C007FA-2BB6-4805-AFE2-E2D7CC48B0D3}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TIME (s)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% CHANGE FROM BASE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QUERIES PER SECOND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Base SBERT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303.92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32.9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Full FT (Random)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324.90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+6.9%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30.8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Full FT (Hard)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307.48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+1.2%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32.5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LoRA FT (Random)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574.92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+89.2%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17.4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LoRA FT (Hard)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598.69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+97.0%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16.7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0" name="Google Shape;170;p31"/>
          <p:cNvSpPr txBox="1"/>
          <p:nvPr/>
        </p:nvSpPr>
        <p:spPr>
          <a:xfrm>
            <a:off x="2725650" y="4180075"/>
            <a:ext cx="3692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Inference time analysis (10k queries)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Computational Efficiency Surprise</a:t>
            </a:r>
            <a:endParaRPr b="1"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LoRA Performance</a:t>
            </a:r>
            <a:r>
              <a:rPr lang="en" sz="1650">
                <a:solidFill>
                  <a:schemeClr val="dk1"/>
                </a:solidFill>
              </a:rPr>
              <a:t>: 2× slower inference despite parameter efficiency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Hidden Costs</a:t>
            </a:r>
            <a:r>
              <a:rPr lang="en" sz="1650">
                <a:solidFill>
                  <a:schemeClr val="dk1"/>
                </a:solidFill>
              </a:rPr>
              <a:t>: Parameter efficiency ≠ computational efficiency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Deployment Impact</a:t>
            </a:r>
            <a:r>
              <a:rPr lang="en" sz="1650">
                <a:solidFill>
                  <a:schemeClr val="dk1"/>
                </a:solidFill>
              </a:rPr>
              <a:t>: Challenges assumptions about LoRA advantages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Insights &amp; Implications</a:t>
            </a:r>
            <a:endParaRPr b="1"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52475"/>
            <a:ext cx="782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The Saturation Hypothesis</a:t>
            </a:r>
            <a:r>
              <a:rPr lang="en" sz="1650">
                <a:solidFill>
                  <a:schemeClr val="dk1"/>
                </a:solidFill>
              </a:rPr>
              <a:t>: Some benchmarks reach optimization limits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Scale Mismatch</a:t>
            </a:r>
            <a:r>
              <a:rPr lang="en" sz="1650">
                <a:solidFill>
                  <a:schemeClr val="dk1"/>
                </a:solidFill>
              </a:rPr>
              <a:t>: 1M fine-tuning samples vs 1B pre-training samples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Embedding Space Preservation</a:t>
            </a:r>
            <a:r>
              <a:rPr lang="en" sz="1650">
                <a:solidFill>
                  <a:schemeClr val="dk1"/>
                </a:solidFill>
              </a:rPr>
              <a:t>: Critical for maintaining performance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Research Paradigm Shift</a:t>
            </a:r>
            <a:r>
              <a:rPr lang="en" sz="1650">
                <a:solidFill>
                  <a:schemeClr val="dk1"/>
                </a:solidFill>
              </a:rPr>
              <a:t>: Need architectural innovation over parameter tuning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Directions</a:t>
            </a:r>
            <a:endParaRPr b="1"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152475"/>
            <a:ext cx="799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Beyond Parameter Tuning</a:t>
            </a:r>
            <a:r>
              <a:rPr lang="en" sz="1650">
                <a:solidFill>
                  <a:schemeClr val="dk1"/>
                </a:solidFill>
              </a:rPr>
              <a:t>: Focus on architectural innovations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Cross-encoder Models</a:t>
            </a:r>
            <a:r>
              <a:rPr lang="en" sz="1650">
                <a:solidFill>
                  <a:schemeClr val="dk1"/>
                </a:solidFill>
              </a:rPr>
              <a:t>: Joint query-document processing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Hybrid Systems</a:t>
            </a:r>
            <a:r>
              <a:rPr lang="en" sz="1650">
                <a:solidFill>
                  <a:schemeClr val="dk1"/>
                </a:solidFill>
              </a:rPr>
              <a:t>: Combine sparse (BM25) + dense retrieval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Alternative Loss Functions</a:t>
            </a:r>
            <a:r>
              <a:rPr lang="en" sz="1650">
                <a:solidFill>
                  <a:schemeClr val="dk1"/>
                </a:solidFill>
              </a:rPr>
              <a:t>: Beyond triplet loss, we can try out MultipleNegativesRankingLoss, Contrastive Loss </a:t>
            </a:r>
            <a:r>
              <a:rPr b="1" lang="en" sz="1650">
                <a:solidFill>
                  <a:schemeClr val="dk1"/>
                </a:solidFill>
              </a:rPr>
              <a:t>[6]</a:t>
            </a:r>
            <a:endParaRPr b="1"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Embedding Space Analysis</a:t>
            </a:r>
            <a:r>
              <a:rPr lang="en" sz="1650">
                <a:solidFill>
                  <a:schemeClr val="dk1"/>
                </a:solidFill>
              </a:rPr>
              <a:t>: Should become standard practice and should also include quantitative analysis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Takeaways</a:t>
            </a:r>
            <a:endParaRPr b="1"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78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Main Finding</a:t>
            </a:r>
            <a:r>
              <a:rPr lang="en" sz="1650">
                <a:solidFill>
                  <a:schemeClr val="dk1"/>
                </a:solidFill>
              </a:rPr>
              <a:t>: Fine-tuning can harm heavily pre-trained models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Methodological Contribution</a:t>
            </a:r>
            <a:r>
              <a:rPr lang="en" sz="1650">
                <a:solidFill>
                  <a:schemeClr val="dk1"/>
                </a:solidFill>
              </a:rPr>
              <a:t>: Embedding space visualization as diagnostic tool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Practical Impact</a:t>
            </a:r>
            <a:r>
              <a:rPr lang="en" sz="1650">
                <a:solidFill>
                  <a:schemeClr val="dk1"/>
                </a:solidFill>
              </a:rPr>
              <a:t>: Challenges conventional transfer learning assumptions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b="1" lang="en" sz="1650">
                <a:solidFill>
                  <a:schemeClr val="dk1"/>
                </a:solidFill>
              </a:rPr>
              <a:t>Research Direction</a:t>
            </a:r>
            <a:r>
              <a:rPr lang="en" sz="1650">
                <a:solidFill>
                  <a:schemeClr val="dk1"/>
                </a:solidFill>
              </a:rPr>
              <a:t>: Architecture innovation &gt; parameter optimization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References</a:t>
            </a:r>
            <a:endParaRPr b="1"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lang="en" sz="1650">
                <a:solidFill>
                  <a:schemeClr val="dk1"/>
                </a:solidFill>
              </a:rPr>
              <a:t>Dong, Z., Niu, S., Chen, J., Yang, Y., &amp; Xie, P. (2022). Exploring dual encoder architectures for question answering. In *Proceedings of the 2022 Conference on Empirical Methods in Natural Language Processing (EMNLP)* (pp. 9520-9530).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lang="en" sz="1650">
                <a:solidFill>
                  <a:schemeClr val="dk1"/>
                </a:solidFill>
              </a:rPr>
              <a:t>Lu, M., Chen, C., &amp; Eickhoff, C. (2025). Cross-encoder rediscovers a semantic variant of BM25. *arXiv preprint arXiv:2502.04645*.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lang="en" sz="1650">
                <a:solidFill>
                  <a:schemeClr val="dk1"/>
                </a:solidFill>
              </a:rPr>
              <a:t>Hu, E. J., Shen, Y., Wallis, P., Allen-Zhu, Z., Li, Y., Wang, S., Wang, L., &amp; Chen, W. (2022). LoRA: Low-rank adaptation of large language models. In *Proceedings of the 10th International Conference on Learning Representations (ICLR)*.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lang="en" sz="1650">
                <a:solidFill>
                  <a:schemeClr val="dk1"/>
                </a:solidFill>
              </a:rPr>
              <a:t>McInnes, L., Healy, J., &amp; Melville, J. (2018). UMAP: Uniform manifold approximation and projection for dimension reduction. *arXiv preprint arXiv:1802.03426*.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References</a:t>
            </a:r>
            <a:endParaRPr b="1"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 startAt="5"/>
            </a:pPr>
            <a:r>
              <a:rPr lang="en" sz="1650">
                <a:solidFill>
                  <a:schemeClr val="dk1"/>
                </a:solidFill>
              </a:rPr>
              <a:t>Robertson, S., &amp; Zaragoza, H. (2009). The probabilistic relevance framework: BM25 and beyond. *Foundations and Trends in Information Retrieval*, 3(4), 333-389.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 startAt="5"/>
            </a:pPr>
            <a:r>
              <a:rPr lang="en" sz="1650">
                <a:solidFill>
                  <a:schemeClr val="dk1"/>
                </a:solidFill>
              </a:rPr>
              <a:t>Sentence Transformers, ”Loss Functions Documentation,” 2024.[Online]. Available: </a:t>
            </a:r>
            <a:r>
              <a:rPr lang="en" sz="1650" u="sng">
                <a:solidFill>
                  <a:schemeClr val="hlink"/>
                </a:solidFill>
                <a:hlinkClick r:id="rId3"/>
              </a:rPr>
              <a:t>https://sbert.net/docs/package_reference/sentence_transformer/losses.html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 startAt="5"/>
            </a:pPr>
            <a:r>
              <a:rPr lang="en" sz="1650">
                <a:solidFill>
                  <a:schemeClr val="dk1"/>
                </a:solidFill>
              </a:rPr>
              <a:t>P. Bajaj et al., ”MS MARCO: A Human Generated MAchine Reading COmprehension Dataset,” arXiv preprint arXiv:1611.09268, 2016.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 startAt="5"/>
            </a:pPr>
            <a:r>
              <a:rPr lang="en" sz="1650">
                <a:solidFill>
                  <a:schemeClr val="dk1"/>
                </a:solidFill>
              </a:rPr>
              <a:t>Hugging Face, ”sentence-transformers/all-MiniLM-L6-v2,” 2024. [Online]. Available: https://huggingface.co/sentence-transformers/all-MiniLM-L6-v2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Acknowledgement</a:t>
            </a:r>
            <a:endParaRPr b="1"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Special thanks to :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Dr. Muneendra Ojha (supervisor) for his guidance and support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Research community for datasets and model availability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Department of IT, IIIT Allahabad for their support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Modal.com for providing computational resources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Family and friends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Your support made this research possible.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